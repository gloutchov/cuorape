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r>
              <a:rPr lang="it-IT"/>
              <a:t>Valutazione comparativa (scala 0–100%)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CuorApe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Branding</c:v>
                </c:pt>
                <c:pt idx="1">
                  <c:v>Artigianalità</c:v>
                </c:pt>
                <c:pt idx="2">
                  <c:v>Affidabilità</c:v>
                </c:pt>
                <c:pt idx="3">
                  <c:v>B2B</c:v>
                </c:pt>
                <c:pt idx="4">
                  <c:v>Visibilità Digitale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75</c:v>
                </c:pt>
                <c:pt idx="2">
                  <c:v>35</c:v>
                </c:pt>
                <c:pt idx="3">
                  <c:v>40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D-474D-922F-4CBA5A9173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Concorrenti Locali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Branding</c:v>
                </c:pt>
                <c:pt idx="1">
                  <c:v>Artigianalità</c:v>
                </c:pt>
                <c:pt idx="2">
                  <c:v>Affidabilità</c:v>
                </c:pt>
                <c:pt idx="3">
                  <c:v>B2B</c:v>
                </c:pt>
                <c:pt idx="4">
                  <c:v>Visibilità Digitale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80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D-474D-922F-4CBA5A9173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Concorrenti Nazionali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Branding</c:v>
                </c:pt>
                <c:pt idx="1">
                  <c:v>Artigianalità</c:v>
                </c:pt>
                <c:pt idx="2">
                  <c:v>Affidabilità</c:v>
                </c:pt>
                <c:pt idx="3">
                  <c:v>B2B</c:v>
                </c:pt>
                <c:pt idx="4">
                  <c:v>Visibilità Digitale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90</c:v>
                </c:pt>
                <c:pt idx="1">
                  <c:v>85</c:v>
                </c:pt>
                <c:pt idx="2">
                  <c:v>80</c:v>
                </c:pt>
                <c:pt idx="3">
                  <c:v>75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7D-474D-922F-4CBA5A917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it-IT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Analisi del Servizio CuorApe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completa del sito e del modello di business</a:t>
            </a:r>
          </a:p>
          <a:p>
            <a:r>
              <a:t>Bologna – Novembre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Sintesi iniziale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Il sito CuorApe presenta un servizio di gelateria artigianale su Apecar. L’obiettivo è offrire esperienze autentiche e personalizzate per eventi. La comunicazione è centrata sulla storia del fondatore e sulla qualità artigianale.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Posizionamento e Valore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 err="1"/>
              <a:t>CuorApe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posiziona</a:t>
            </a:r>
            <a:r>
              <a:rPr dirty="0"/>
              <a:t> come </a:t>
            </a:r>
            <a:r>
              <a:rPr dirty="0" err="1"/>
              <a:t>marchio</a:t>
            </a:r>
            <a:r>
              <a:rPr dirty="0"/>
              <a:t> </a:t>
            </a:r>
            <a:r>
              <a:rPr dirty="0" err="1"/>
              <a:t>artigianale</a:t>
            </a:r>
            <a:r>
              <a:rPr dirty="0"/>
              <a:t> e </a:t>
            </a:r>
            <a:r>
              <a:rPr dirty="0" err="1"/>
              <a:t>nostalgico</a:t>
            </a:r>
            <a:r>
              <a:rPr dirty="0"/>
              <a:t>. Il target </a:t>
            </a:r>
            <a:r>
              <a:rPr dirty="0" err="1"/>
              <a:t>principale</a:t>
            </a:r>
            <a:r>
              <a:rPr dirty="0"/>
              <a:t> è </a:t>
            </a:r>
            <a:r>
              <a:rPr dirty="0" err="1"/>
              <a:t>l’adulto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cerca</a:t>
            </a:r>
            <a:r>
              <a:rPr dirty="0"/>
              <a:t> </a:t>
            </a:r>
            <a:r>
              <a:rPr dirty="0" err="1"/>
              <a:t>evasione</a:t>
            </a:r>
            <a:r>
              <a:rPr dirty="0"/>
              <a:t> e </a:t>
            </a:r>
            <a:r>
              <a:rPr dirty="0" err="1"/>
              <a:t>genuinità</a:t>
            </a:r>
            <a:r>
              <a:rPr dirty="0"/>
              <a:t>. </a:t>
            </a:r>
            <a:r>
              <a:rPr dirty="0" err="1"/>
              <a:t>Promette</a:t>
            </a:r>
            <a:r>
              <a:rPr dirty="0"/>
              <a:t> </a:t>
            </a:r>
            <a:r>
              <a:rPr dirty="0" err="1"/>
              <a:t>qualità</a:t>
            </a:r>
            <a:r>
              <a:rPr dirty="0"/>
              <a:t>, </a:t>
            </a:r>
            <a:r>
              <a:rPr dirty="0" err="1"/>
              <a:t>prossimità</a:t>
            </a:r>
            <a:r>
              <a:rPr dirty="0"/>
              <a:t> e un </a:t>
            </a:r>
            <a:r>
              <a:rPr dirty="0" err="1"/>
              <a:t>legame</a:t>
            </a:r>
            <a:r>
              <a:rPr dirty="0"/>
              <a:t> </a:t>
            </a:r>
            <a:r>
              <a:rPr dirty="0" err="1"/>
              <a:t>umano</a:t>
            </a:r>
            <a:r>
              <a:rPr dirty="0"/>
              <a:t> </a:t>
            </a:r>
            <a:r>
              <a:rPr dirty="0" err="1"/>
              <a:t>diretto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Offerta</a:t>
            </a:r>
            <a:r>
              <a:rPr dirty="0"/>
              <a:t> e </a:t>
            </a:r>
            <a:r>
              <a:rPr dirty="0" err="1"/>
              <a:t>Servizio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Gelati </a:t>
            </a:r>
            <a:r>
              <a:rPr dirty="0" err="1"/>
              <a:t>artigianali</a:t>
            </a:r>
            <a:r>
              <a:rPr dirty="0"/>
              <a:t> in </a:t>
            </a:r>
            <a:r>
              <a:rPr dirty="0" err="1"/>
              <a:t>gusti</a:t>
            </a:r>
            <a:r>
              <a:rPr dirty="0"/>
              <a:t> </a:t>
            </a:r>
            <a:r>
              <a:rPr dirty="0" err="1"/>
              <a:t>selezionati</a:t>
            </a:r>
            <a:r>
              <a:rPr dirty="0"/>
              <a:t> </a:t>
            </a:r>
            <a:r>
              <a:rPr dirty="0" err="1"/>
              <a:t>stagionalmente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Servizi</a:t>
            </a:r>
            <a:r>
              <a:rPr dirty="0"/>
              <a:t> per 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privati</a:t>
            </a:r>
            <a:r>
              <a:rPr dirty="0"/>
              <a:t> e </a:t>
            </a:r>
            <a:r>
              <a:rPr dirty="0" err="1"/>
              <a:t>aziendali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Prenotazione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form semplice.</a:t>
            </a:r>
            <a:endParaRPr lang="it-IT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 err="1"/>
              <a:t>Mancano</a:t>
            </a:r>
            <a:r>
              <a:rPr dirty="0"/>
              <a:t> </a:t>
            </a:r>
            <a:r>
              <a:rPr dirty="0" err="1"/>
              <a:t>informazioni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prezzi</a:t>
            </a:r>
            <a:r>
              <a:rPr dirty="0"/>
              <a:t>, </a:t>
            </a:r>
            <a:r>
              <a:rPr dirty="0" err="1"/>
              <a:t>condizioni</a:t>
            </a:r>
            <a:r>
              <a:rPr dirty="0"/>
              <a:t> e </a:t>
            </a:r>
            <a:r>
              <a:rPr dirty="0" err="1"/>
              <a:t>certificazioni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Esperienza Utente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chiara</a:t>
            </a:r>
            <a:r>
              <a:rPr dirty="0"/>
              <a:t> e </a:t>
            </a:r>
            <a:r>
              <a:rPr dirty="0" err="1"/>
              <a:t>intuitiva</a:t>
            </a:r>
            <a:r>
              <a:rPr dirty="0"/>
              <a:t>, ma il form di </a:t>
            </a:r>
            <a:r>
              <a:rPr dirty="0" err="1"/>
              <a:t>contatto</a:t>
            </a:r>
            <a:r>
              <a:rPr dirty="0"/>
              <a:t> è </a:t>
            </a:r>
            <a:r>
              <a:rPr dirty="0" err="1"/>
              <a:t>minimale</a:t>
            </a:r>
            <a:r>
              <a:rPr dirty="0"/>
              <a:t>. </a:t>
            </a:r>
            <a:endParaRPr lang="it-IT" dirty="0"/>
          </a:p>
          <a:p>
            <a:pPr algn="l">
              <a:defRPr sz="1800"/>
            </a:pPr>
            <a:r>
              <a:rPr dirty="0" err="1"/>
              <a:t>Assenti</a:t>
            </a:r>
            <a:r>
              <a:rPr dirty="0"/>
              <a:t> </a:t>
            </a:r>
            <a:r>
              <a:rPr dirty="0" err="1"/>
              <a:t>testimonianze</a:t>
            </a:r>
            <a:r>
              <a:rPr dirty="0"/>
              <a:t>, </a:t>
            </a:r>
            <a:r>
              <a:rPr dirty="0" err="1"/>
              <a:t>recensioni</a:t>
            </a:r>
            <a:r>
              <a:rPr dirty="0"/>
              <a:t> e </a:t>
            </a:r>
            <a:r>
              <a:rPr dirty="0" err="1"/>
              <a:t>conferme</a:t>
            </a:r>
            <a:r>
              <a:rPr dirty="0"/>
              <a:t> visive di 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reali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Reputazione e Conformità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 err="1"/>
              <a:t>Comunicazione</a:t>
            </a:r>
            <a:r>
              <a:rPr dirty="0"/>
              <a:t> </a:t>
            </a:r>
            <a:r>
              <a:rPr dirty="0" err="1"/>
              <a:t>calda</a:t>
            </a:r>
            <a:r>
              <a:rPr dirty="0"/>
              <a:t> e </a:t>
            </a:r>
            <a:r>
              <a:rPr dirty="0" err="1"/>
              <a:t>autentica</a:t>
            </a:r>
            <a:r>
              <a:rPr dirty="0"/>
              <a:t>, ma </a:t>
            </a:r>
            <a:r>
              <a:rPr dirty="0" err="1"/>
              <a:t>assenti</a:t>
            </a:r>
            <a:r>
              <a:rPr dirty="0"/>
              <a:t> </a:t>
            </a:r>
            <a:r>
              <a:rPr dirty="0" err="1"/>
              <a:t>informazioni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HACCP, </a:t>
            </a:r>
            <a:r>
              <a:rPr dirty="0" err="1"/>
              <a:t>assicurazioni</a:t>
            </a:r>
            <a:r>
              <a:rPr dirty="0"/>
              <a:t>, </a:t>
            </a:r>
            <a:r>
              <a:rPr dirty="0" err="1"/>
              <a:t>allergeni</a:t>
            </a:r>
            <a:r>
              <a:rPr dirty="0"/>
              <a:t>. </a:t>
            </a:r>
            <a:endParaRPr lang="it-IT" dirty="0"/>
          </a:p>
          <a:p>
            <a:pPr algn="l">
              <a:defRPr sz="1800"/>
            </a:pPr>
            <a:r>
              <a:rPr dirty="0" err="1"/>
              <a:t>Nessuna</a:t>
            </a:r>
            <a:r>
              <a:rPr dirty="0"/>
              <a:t> </a:t>
            </a:r>
            <a:r>
              <a:rPr dirty="0" err="1"/>
              <a:t>evidenza</a:t>
            </a:r>
            <a:r>
              <a:rPr dirty="0"/>
              <a:t> di feedback </a:t>
            </a:r>
            <a:r>
              <a:rPr dirty="0" err="1"/>
              <a:t>esterni</a:t>
            </a:r>
            <a:r>
              <a:rPr dirty="0"/>
              <a:t> o policy </a:t>
            </a:r>
            <a:r>
              <a:rPr dirty="0" err="1"/>
              <a:t>legali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Concorrenza e Mercato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Bologna presenta molte ape-gelaterie e food truck per eventi. CuorApe si distingue per storytelling ma deve rafforzare prove di affidabilità.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Valutazione Percentuale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Branding/emotività: 85%</a:t>
            </a:r>
          </a:p>
          <a:p>
            <a:pPr algn="l">
              <a:defRPr sz="1800"/>
            </a:pPr>
            <a:r>
              <a:t>Artigianalità percepita: 75%</a:t>
            </a:r>
          </a:p>
          <a:p>
            <a:pPr algn="l">
              <a:defRPr sz="1800"/>
            </a:pPr>
            <a:r>
              <a:t>Affidabilità contrattuale: 35%</a:t>
            </a:r>
          </a:p>
          <a:p>
            <a:pPr algn="l">
              <a:defRPr sz="1800"/>
            </a:pPr>
            <a:r>
              <a:t>Capacità B2B: 40%</a:t>
            </a:r>
          </a:p>
          <a:p>
            <a:pPr algn="l">
              <a:defRPr sz="1800"/>
            </a:pPr>
            <a:r>
              <a:t>Visibilità digitale: 45%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 e SEO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/>
              <a:t>Sito </a:t>
            </a:r>
            <a:r>
              <a:rPr dirty="0" err="1"/>
              <a:t>statico</a:t>
            </a:r>
            <a:r>
              <a:rPr dirty="0"/>
              <a:t> con Canvas e JS. </a:t>
            </a:r>
            <a:endParaRPr lang="it-IT" dirty="0"/>
          </a:p>
          <a:p>
            <a:pPr algn="l">
              <a:defRPr sz="1800"/>
            </a:pPr>
            <a:r>
              <a:rPr dirty="0"/>
              <a:t>Buona </a:t>
            </a:r>
            <a:r>
              <a:rPr dirty="0" err="1"/>
              <a:t>estetica</a:t>
            </a:r>
            <a:r>
              <a:rPr dirty="0"/>
              <a:t> ma SEO </a:t>
            </a:r>
            <a:r>
              <a:rPr dirty="0" err="1"/>
              <a:t>limitata</a:t>
            </a:r>
            <a:r>
              <a:rPr dirty="0"/>
              <a:t>. </a:t>
            </a:r>
            <a:endParaRPr lang="it-IT" dirty="0"/>
          </a:p>
          <a:p>
            <a:pPr algn="l">
              <a:defRPr sz="1800"/>
            </a:pPr>
            <a:r>
              <a:rPr dirty="0" err="1"/>
              <a:t>Mancano</a:t>
            </a:r>
            <a:r>
              <a:rPr dirty="0"/>
              <a:t> </a:t>
            </a:r>
            <a:r>
              <a:rPr dirty="0" err="1"/>
              <a:t>microdati</a:t>
            </a:r>
            <a:r>
              <a:rPr dirty="0"/>
              <a:t> e </a:t>
            </a:r>
            <a:r>
              <a:rPr dirty="0" err="1"/>
              <a:t>pagine</a:t>
            </a:r>
            <a:r>
              <a:rPr dirty="0"/>
              <a:t> dedicate per </a:t>
            </a:r>
            <a:r>
              <a:rPr dirty="0" err="1"/>
              <a:t>eventi</a:t>
            </a:r>
            <a:r>
              <a:rPr dirty="0"/>
              <a:t> o FAQ.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Punti di Forza e Debolezza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Punti di forza: storytelling, coerenza estetica, proposta autentica.</a:t>
            </a:r>
          </a:p>
          <a:p>
            <a:pPr algn="l">
              <a:defRPr sz="1800"/>
            </a:pPr>
            <a:r>
              <a:t>Debolezze: contatti fittizi, assenza recensioni e policy, SEO debole.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Raccomandazioni 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1. Aggiornare contatti reali e social attivi.</a:t>
            </a:r>
          </a:p>
          <a:p>
            <a:pPr algn="l">
              <a:defRPr sz="1800"/>
            </a:pPr>
            <a:r>
              <a:t>2. Aggiungere prezzi e termini.</a:t>
            </a:r>
          </a:p>
          <a:p>
            <a:pPr algn="l">
              <a:defRPr sz="1800"/>
            </a:pPr>
            <a:r>
              <a:t>3. Pubblicare recensioni e foto eventi.</a:t>
            </a:r>
          </a:p>
          <a:p>
            <a:pPr algn="l">
              <a:defRPr sz="1800"/>
            </a:pPr>
            <a:r>
              <a:t>4. Inserire informazioni HACCP/allergeni.</a:t>
            </a:r>
          </a:p>
          <a:p>
            <a:pPr algn="l">
              <a:defRPr sz="1800"/>
            </a:pPr>
            <a:r>
              <a:t>5. Ottimizzare SEO locale (Google Business).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Opportunità di Crescita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 err="1"/>
              <a:t>Pacchetti</a:t>
            </a:r>
            <a:r>
              <a:rPr dirty="0"/>
              <a:t> per </a:t>
            </a:r>
            <a:r>
              <a:rPr dirty="0" err="1"/>
              <a:t>aziende</a:t>
            </a:r>
            <a:r>
              <a:rPr dirty="0"/>
              <a:t> (open day, </a:t>
            </a:r>
            <a:r>
              <a:rPr dirty="0" err="1"/>
              <a:t>fiere</a:t>
            </a:r>
            <a:r>
              <a:rPr dirty="0"/>
              <a:t>, break </a:t>
            </a:r>
            <a:r>
              <a:rPr dirty="0" err="1"/>
              <a:t>estivi</a:t>
            </a:r>
            <a:r>
              <a:rPr dirty="0"/>
              <a:t>).</a:t>
            </a:r>
          </a:p>
          <a:p>
            <a:pPr algn="l">
              <a:defRPr sz="1800"/>
            </a:pP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privati</a:t>
            </a:r>
            <a:r>
              <a:rPr dirty="0"/>
              <a:t> (wedding, </a:t>
            </a:r>
            <a:r>
              <a:rPr dirty="0" err="1"/>
              <a:t>compleanni</a:t>
            </a:r>
            <a:r>
              <a:rPr dirty="0"/>
              <a:t>).</a:t>
            </a:r>
          </a:p>
          <a:p>
            <a:pPr algn="l">
              <a:defRPr sz="1800"/>
            </a:pPr>
            <a:r>
              <a:rPr dirty="0"/>
              <a:t>Partnership con </a:t>
            </a:r>
            <a:r>
              <a:rPr dirty="0" err="1"/>
              <a:t>agenzie</a:t>
            </a:r>
            <a:r>
              <a:rPr dirty="0"/>
              <a:t> </a:t>
            </a:r>
            <a:r>
              <a:rPr dirty="0" err="1"/>
              <a:t>eventi</a:t>
            </a:r>
            <a:r>
              <a:rPr dirty="0"/>
              <a:t> e </a:t>
            </a:r>
            <a:r>
              <a:rPr dirty="0" err="1"/>
              <a:t>gelaterie</a:t>
            </a:r>
            <a:r>
              <a:rPr dirty="0"/>
              <a:t> </a:t>
            </a:r>
            <a:r>
              <a:rPr dirty="0" err="1"/>
              <a:t>artigianali</a:t>
            </a:r>
            <a:r>
              <a:rPr dirty="0"/>
              <a:t>.</a:t>
            </a:r>
          </a:p>
          <a:p>
            <a:pPr algn="l">
              <a:defRPr sz="1800"/>
            </a:pPr>
            <a:r>
              <a:rPr dirty="0" err="1"/>
              <a:t>Presenza</a:t>
            </a:r>
            <a:r>
              <a:rPr dirty="0"/>
              <a:t> a festival street food.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defRPr sz="1800"/>
            </a:pPr>
            <a:r>
              <a:rPr dirty="0" err="1"/>
              <a:t>CuorApe</a:t>
            </a:r>
            <a:r>
              <a:rPr dirty="0"/>
              <a:t> ha </a:t>
            </a:r>
            <a:r>
              <a:rPr dirty="0" err="1"/>
              <a:t>un'identità</a:t>
            </a:r>
            <a:r>
              <a:rPr dirty="0"/>
              <a:t> forte e un </a:t>
            </a:r>
            <a:r>
              <a:rPr dirty="0" err="1"/>
              <a:t>racconto</a:t>
            </a:r>
            <a:r>
              <a:rPr dirty="0"/>
              <a:t> </a:t>
            </a:r>
            <a:r>
              <a:rPr dirty="0" err="1"/>
              <a:t>coinvolgente</a:t>
            </a:r>
            <a:r>
              <a:rPr dirty="0"/>
              <a:t>. Per </a:t>
            </a:r>
            <a:r>
              <a:rPr dirty="0" err="1"/>
              <a:t>competere</a:t>
            </a:r>
            <a:r>
              <a:rPr dirty="0"/>
              <a:t> </a:t>
            </a:r>
            <a:r>
              <a:rPr dirty="0" err="1"/>
              <a:t>efficacemente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rendere</a:t>
            </a:r>
            <a:r>
              <a:rPr dirty="0"/>
              <a:t> </a:t>
            </a:r>
            <a:r>
              <a:rPr dirty="0" err="1"/>
              <a:t>tangibile</a:t>
            </a:r>
            <a:r>
              <a:rPr dirty="0"/>
              <a:t> la fiducia, </a:t>
            </a:r>
            <a:r>
              <a:rPr dirty="0" err="1"/>
              <a:t>rafforzare</a:t>
            </a:r>
            <a:r>
              <a:rPr dirty="0"/>
              <a:t> la </a:t>
            </a:r>
            <a:r>
              <a:rPr dirty="0" err="1"/>
              <a:t>presenza</a:t>
            </a:r>
            <a:r>
              <a:rPr dirty="0"/>
              <a:t> </a:t>
            </a:r>
            <a:r>
              <a:rPr dirty="0" err="1"/>
              <a:t>digitale</a:t>
            </a:r>
            <a:r>
              <a:rPr dirty="0"/>
              <a:t> e </a:t>
            </a:r>
            <a:r>
              <a:rPr dirty="0" err="1"/>
              <a:t>strutturare</a:t>
            </a:r>
            <a:r>
              <a:rPr dirty="0"/>
              <a:t> la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contrattuale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Confronto CuorApe vs Concorrenti Locali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772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402</Words>
  <Application>Microsoft Office PowerPoint</Application>
  <PresentationFormat>Presentazione su schermo (4:3)</PresentationFormat>
  <Paragraphs>49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Analisi del Servizio CuorApe</vt:lpstr>
      <vt:lpstr>Sintesi iniziale</vt:lpstr>
      <vt:lpstr>Posizionamento e Valore</vt:lpstr>
      <vt:lpstr>Offerta e Servizio</vt:lpstr>
      <vt:lpstr>Esperienza Utente (UX)</vt:lpstr>
      <vt:lpstr>Reputazione e Conformità</vt:lpstr>
      <vt:lpstr>Concorrenza e Mercato</vt:lpstr>
      <vt:lpstr>Valutazione Percentuale</vt:lpstr>
      <vt:lpstr>Tecnologia e SEO</vt:lpstr>
      <vt:lpstr>Punti di Forza e Debolezza</vt:lpstr>
      <vt:lpstr>Raccomandazioni Operative</vt:lpstr>
      <vt:lpstr>Opportunità di Crescita</vt:lpstr>
      <vt:lpstr>Conclusione</vt:lpstr>
      <vt:lpstr>Confronto CuorApe vs Concorrenti Locali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Silvestri Glauco</cp:lastModifiedBy>
  <cp:revision>2</cp:revision>
  <dcterms:created xsi:type="dcterms:W3CDTF">2013-01-27T09:14:16Z</dcterms:created>
  <dcterms:modified xsi:type="dcterms:W3CDTF">2025-11-11T09:18:27Z</dcterms:modified>
  <cp:category/>
</cp:coreProperties>
</file>